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IP Exchange Tool: a platform where innovators sell patents to organisations, with an admin verifying documents and overseeing deals.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aim in one sentence. Three actors: the innovator sells, the organisation buys, and the admin builds trust by verifying documents and overseeing the signing.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objectives: verified listings, similarity-based discovery, AI summaries, a guided deal flow (including an NDA before any documents are shared), real-time role-based dashboards, and a monetisation path once the platform scales.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problem is trust and friction. Four pain points: discovery, trust in documents, time to evaluate, and closing the deal safely with an audit trail.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Existing platforms: yet2 became a consulting-led open innovation business; IPXI closed in March 2015 because licensees preferred litigation. Research: Sentence-BERT for embeddings, PatentBERT shows transformers suit patent text, FAISS for vector search. In India, IT Act Sec. 3A recognises e-signatures.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Eight-step flow from posting to closing. Step 5 is Contact and Execute NDA: confidential documents are shared only after the NDA is signed. Every patent moves through five statuses. The backend is a modular monolith built in phases so a two-person team can deliver in about two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stack. Key design choice: no local models, so everything AI-related is an API call and the project runs on an 8 GB development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Next.js with Tailwind. One codebase serves three surfaces, guarded by role: innovator, organisation and admin.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FastAPI modular monolith: auth, patents, verification, search, ai, deals and notifications, plus queue-driven workers. Cloud AI calls are made from async jobs. The deal state machine now includes nda_pending and nda_signed before any document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PostgreSQL holds relational data; pgvector stores embeddings in the same database. Core entities: user, patent, document, embedding, deal and signature.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up: one trusted workflow, sized for the team and hardware, and a phased path to revenue: free launch, then success fee, then premium tiers once usage data supports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A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 Exchange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verified marketplace where innovators sell patents to organisations, powered by AI similarity search.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760720" y="868680"/>
            <a:ext cx="868680" cy="868680"/>
          </a:xfrm>
          <a:prstGeom prst="ellipse">
            <a:avLst/>
          </a:prstGeom>
          <a:solidFill>
            <a:srgbClr val="1B7F8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7890" y="1085850"/>
            <a:ext cx="434340" cy="4343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0" y="9966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Innovator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85800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 patent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95060" y="1792224"/>
            <a:ext cx="0" cy="301752"/>
          </a:xfrm>
          <a:prstGeom prst="line">
            <a:avLst/>
          </a:prstGeom>
          <a:noFill/>
          <a:ln w="19050">
            <a:solidFill>
              <a:srgbClr val="3A4E6B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5760720" y="2148840"/>
            <a:ext cx="868680" cy="868680"/>
          </a:xfrm>
          <a:prstGeom prst="ellipse">
            <a:avLst/>
          </a:prstGeom>
          <a:solidFill>
            <a:srgbClr val="F4A62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7890" y="2366010"/>
            <a:ext cx="434340" cy="4343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0" y="22768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685800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and oversees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95060" y="3072384"/>
            <a:ext cx="0" cy="301752"/>
          </a:xfrm>
          <a:prstGeom prst="line">
            <a:avLst/>
          </a:prstGeom>
          <a:noFill/>
          <a:ln w="19050">
            <a:solidFill>
              <a:srgbClr val="3A4E6B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760720" y="3429000"/>
            <a:ext cx="868680" cy="868680"/>
          </a:xfrm>
          <a:prstGeom prst="ellipse">
            <a:avLst/>
          </a:prstGeom>
          <a:solidFill>
            <a:srgbClr val="1B7F8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890" y="3646170"/>
            <a:ext cx="434340" cy="4343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858000" y="35570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85800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and buys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build a trusted online platform where innovators can list patents and organisations can discover, evaluate and acquire them, from verified listing to a signed, closed deal.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B7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24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3657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B7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4224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deal workflow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3657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B7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4224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to build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1280160"/>
            <a:ext cx="3566160" cy="960120"/>
          </a:xfrm>
          <a:prstGeom prst="roundRect">
            <a:avLst>
              <a:gd name="adj" fmla="val 9524"/>
            </a:avLst>
          </a:prstGeom>
          <a:solidFill>
            <a:srgbClr val="F3F6F9"/>
          </a:solidFill>
          <a:ln/>
        </p:spPr>
      </p:sp>
      <p:sp>
        <p:nvSpPr>
          <p:cNvPr id="11" name="Shape 9"/>
          <p:cNvSpPr/>
          <p:nvPr/>
        </p:nvSpPr>
        <p:spPr>
          <a:xfrm>
            <a:off x="5212080" y="1485900"/>
            <a:ext cx="548640" cy="548640"/>
          </a:xfrm>
          <a:prstGeom prst="ellipse">
            <a:avLst/>
          </a:prstGeom>
          <a:solidFill>
            <a:srgbClr val="1B7F8E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623060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943600" y="14356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Innovator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0" y="17099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patents with proof documents and negotiates the sale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0" y="2423160"/>
            <a:ext cx="3566160" cy="960120"/>
          </a:xfrm>
          <a:prstGeom prst="roundRect">
            <a:avLst>
              <a:gd name="adj" fmla="val 9524"/>
            </a:avLst>
          </a:prstGeom>
          <a:solidFill>
            <a:srgbClr val="F3F6F9"/>
          </a:solidFill>
          <a:ln/>
        </p:spPr>
      </p:sp>
      <p:sp>
        <p:nvSpPr>
          <p:cNvPr id="16" name="Shape 13"/>
          <p:cNvSpPr/>
          <p:nvPr/>
        </p:nvSpPr>
        <p:spPr>
          <a:xfrm>
            <a:off x="5212080" y="2628900"/>
            <a:ext cx="548640" cy="548640"/>
          </a:xfrm>
          <a:prstGeom prst="ellipse">
            <a:avLst/>
          </a:prstGeom>
          <a:solidFill>
            <a:srgbClr val="1B7F8E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276606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943600" y="25786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5943600" y="28529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by meaning, reads AI summaries and buys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029200" y="3566160"/>
            <a:ext cx="3566160" cy="960120"/>
          </a:xfrm>
          <a:prstGeom prst="roundRect">
            <a:avLst>
              <a:gd name="adj" fmla="val 9524"/>
            </a:avLst>
          </a:prstGeom>
          <a:solidFill>
            <a:srgbClr val="F3F6F9"/>
          </a:solidFill>
          <a:ln/>
        </p:spPr>
      </p:sp>
      <p:sp>
        <p:nvSpPr>
          <p:cNvPr id="21" name="Shape 17"/>
          <p:cNvSpPr/>
          <p:nvPr/>
        </p:nvSpPr>
        <p:spPr>
          <a:xfrm>
            <a:off x="5212080" y="3771900"/>
            <a:ext cx="548640" cy="548640"/>
          </a:xfrm>
          <a:prstGeom prst="ellipse">
            <a:avLst/>
          </a:prstGeom>
          <a:solidFill>
            <a:srgbClr val="1B7F8E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390906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943600" y="37216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5943600" y="39959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documents and oversees signing and closure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499360" cy="1645920"/>
          </a:xfrm>
          <a:prstGeom prst="roundRect">
            <a:avLst>
              <a:gd name="adj" fmla="val 5556"/>
            </a:avLst>
          </a:prstGeom>
          <a:solidFill>
            <a:srgbClr val="F3F6F9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25880"/>
            <a:ext cx="402336" cy="402336"/>
          </a:xfrm>
          <a:prstGeom prst="ellipse">
            <a:avLst/>
          </a:prstGeom>
          <a:solidFill>
            <a:srgbClr val="1B7F8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426464"/>
            <a:ext cx="201168" cy="2011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1801368"/>
            <a:ext cx="213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listings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075688"/>
            <a:ext cx="213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Innovators post patents with proof documents; an admin verifies them.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22320" y="1188720"/>
            <a:ext cx="2499360" cy="1645920"/>
          </a:xfrm>
          <a:prstGeom prst="roundRect">
            <a:avLst>
              <a:gd name="adj" fmla="val 5556"/>
            </a:avLst>
          </a:prstGeom>
          <a:solidFill>
            <a:srgbClr val="F3F6F9"/>
          </a:solidFill>
          <a:ln/>
        </p:spPr>
      </p:sp>
      <p:sp>
        <p:nvSpPr>
          <p:cNvPr id="9" name="Shape 6"/>
          <p:cNvSpPr/>
          <p:nvPr/>
        </p:nvSpPr>
        <p:spPr>
          <a:xfrm>
            <a:off x="3505200" y="1325880"/>
            <a:ext cx="402336" cy="402336"/>
          </a:xfrm>
          <a:prstGeom prst="ellipse">
            <a:avLst/>
          </a:prstGeom>
          <a:solidFill>
            <a:srgbClr val="1B7F8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784" y="1426464"/>
            <a:ext cx="201168" cy="2011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05200" y="1801368"/>
            <a:ext cx="213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discovery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505200" y="2075688"/>
            <a:ext cx="213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 finds patents by meaning, not just matching keywords.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96000" y="1188720"/>
            <a:ext cx="2499360" cy="1645920"/>
          </a:xfrm>
          <a:prstGeom prst="roundRect">
            <a:avLst>
              <a:gd name="adj" fmla="val 5556"/>
            </a:avLst>
          </a:prstGeom>
          <a:solidFill>
            <a:srgbClr val="F3F6F9"/>
          </a:solidFill>
          <a:ln/>
        </p:spPr>
      </p:sp>
      <p:sp>
        <p:nvSpPr>
          <p:cNvPr id="14" name="Shape 10"/>
          <p:cNvSpPr/>
          <p:nvPr/>
        </p:nvSpPr>
        <p:spPr>
          <a:xfrm>
            <a:off x="6278880" y="1325880"/>
            <a:ext cx="402336" cy="402336"/>
          </a:xfrm>
          <a:prstGeom prst="ellipse">
            <a:avLst/>
          </a:prstGeom>
          <a:solidFill>
            <a:srgbClr val="1B7F8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464" y="1426464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78880" y="1801368"/>
            <a:ext cx="213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summaries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278880" y="2075688"/>
            <a:ext cx="213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listed patent gets a short AI summary for faster evaluation.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3017520"/>
            <a:ext cx="2499360" cy="1645920"/>
          </a:xfrm>
          <a:prstGeom prst="roundRect">
            <a:avLst>
              <a:gd name="adj" fmla="val 5556"/>
            </a:avLst>
          </a:prstGeom>
          <a:solidFill>
            <a:srgbClr val="F3F6F9"/>
          </a:solidFill>
          <a:ln/>
        </p:spPr>
      </p:sp>
      <p:sp>
        <p:nvSpPr>
          <p:cNvPr id="19" name="Shape 14"/>
          <p:cNvSpPr/>
          <p:nvPr/>
        </p:nvSpPr>
        <p:spPr>
          <a:xfrm>
            <a:off x="731520" y="3154680"/>
            <a:ext cx="402336" cy="402336"/>
          </a:xfrm>
          <a:prstGeom prst="ellipse">
            <a:avLst/>
          </a:prstGeom>
          <a:solidFill>
            <a:srgbClr val="1B7F8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3255264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" y="3630168"/>
            <a:ext cx="213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deal flow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3904488"/>
            <a:ext cx="213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Interest, NDA, document sharing and admin-overseen signing, with an audit trail.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322320" y="3017520"/>
            <a:ext cx="2499360" cy="1645920"/>
          </a:xfrm>
          <a:prstGeom prst="roundRect">
            <a:avLst>
              <a:gd name="adj" fmla="val 5556"/>
            </a:avLst>
          </a:prstGeom>
          <a:solidFill>
            <a:srgbClr val="F3F6F9"/>
          </a:solidFill>
          <a:ln/>
        </p:spPr>
      </p:sp>
      <p:sp>
        <p:nvSpPr>
          <p:cNvPr id="24" name="Shape 18"/>
          <p:cNvSpPr/>
          <p:nvPr/>
        </p:nvSpPr>
        <p:spPr>
          <a:xfrm>
            <a:off x="3505200" y="3154680"/>
            <a:ext cx="402336" cy="402336"/>
          </a:xfrm>
          <a:prstGeom prst="ellipse">
            <a:avLst/>
          </a:prstGeom>
          <a:solidFill>
            <a:srgbClr val="1B7F8E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5784" y="3255264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505200" y="3630168"/>
            <a:ext cx="213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dashboards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3505200" y="3904488"/>
            <a:ext cx="213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 give innovators, organisations and admins real-time visibility into listings, deals and verification status.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096000" y="3017520"/>
            <a:ext cx="2499360" cy="1645920"/>
          </a:xfrm>
          <a:prstGeom prst="roundRect">
            <a:avLst>
              <a:gd name="adj" fmla="val 5556"/>
            </a:avLst>
          </a:prstGeom>
          <a:solidFill>
            <a:srgbClr val="F3F6F9"/>
          </a:solidFill>
          <a:ln/>
        </p:spPr>
      </p:sp>
      <p:sp>
        <p:nvSpPr>
          <p:cNvPr id="29" name="Shape 22"/>
          <p:cNvSpPr/>
          <p:nvPr/>
        </p:nvSpPr>
        <p:spPr>
          <a:xfrm>
            <a:off x="6278880" y="3154680"/>
            <a:ext cx="402336" cy="402336"/>
          </a:xfrm>
          <a:prstGeom prst="ellipse">
            <a:avLst/>
          </a:prstGeom>
          <a:solidFill>
            <a:srgbClr val="1B7F8E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9464" y="3255264"/>
            <a:ext cx="201168" cy="20116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278880" y="3630168"/>
            <a:ext cx="213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and monetise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6278880" y="3904488"/>
            <a:ext cx="213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at launch, freemium and premium later; delivered in phases.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514350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statement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Innovators with patents and organisations that need them have no single trusted place to find each other, verify documents and close a deal securely.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389120" y="640080"/>
            <a:ext cx="548640" cy="548640"/>
          </a:xfrm>
          <a:prstGeom prst="ellipse">
            <a:avLst/>
          </a:prstGeom>
          <a:solidFill>
            <a:srgbClr val="1B7F8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7772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120640" y="5486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discover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120640" y="8412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matching misses similar patents, so buyers struggle to find relevant IP.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548640" cy="548640"/>
          </a:xfrm>
          <a:prstGeom prst="ellipse">
            <a:avLst/>
          </a:prstGeom>
          <a:solidFill>
            <a:srgbClr val="1B7F8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8288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120640" y="16002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trust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120640" y="189280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cannot easily confirm that filing and ownership documents are genuine.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389120" y="2743200"/>
            <a:ext cx="548640" cy="548640"/>
          </a:xfrm>
          <a:prstGeom prst="ellipse">
            <a:avLst/>
          </a:prstGeom>
          <a:solidFill>
            <a:srgbClr val="1B7F8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288036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120640" y="26517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to evaluate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5120640" y="294436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technical abstracts take time to read; there is no quick summary.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389120" y="3794760"/>
            <a:ext cx="548640" cy="548640"/>
          </a:xfrm>
          <a:prstGeom prst="ellipse">
            <a:avLst/>
          </a:prstGeom>
          <a:solidFill>
            <a:srgbClr val="1B7F8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39319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120640" y="37033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close safely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5120640" y="399592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Sharing, negotiating and signing happen over scattered channels with no audit trail.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499360" cy="2788920"/>
          </a:xfrm>
          <a:prstGeom prst="roundRect">
            <a:avLst>
              <a:gd name="adj" fmla="val 3659"/>
            </a:avLst>
          </a:prstGeom>
          <a:solidFill>
            <a:srgbClr val="F3F6F9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07592"/>
            <a:ext cx="411480" cy="411480"/>
          </a:xfrm>
          <a:prstGeom prst="ellipse">
            <a:avLst/>
          </a:prstGeom>
          <a:solidFill>
            <a:srgbClr val="1B7F8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1410462"/>
            <a:ext cx="205740" cy="2057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307592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marketplaces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874520"/>
            <a:ext cx="2133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yet2.com (founded 1999)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technology marketplace that later shifted towards open-innovation consulting.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IPXI (closed 2015)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for patent licence rights; it shut down after licensees preferred litigation.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322320" y="1143000"/>
            <a:ext cx="2499360" cy="2788920"/>
          </a:xfrm>
          <a:prstGeom prst="roundRect">
            <a:avLst>
              <a:gd name="adj" fmla="val 3659"/>
            </a:avLst>
          </a:prstGeom>
          <a:solidFill>
            <a:srgbClr val="F3F6F9"/>
          </a:solidFill>
          <a:ln/>
        </p:spPr>
      </p:sp>
      <p:sp>
        <p:nvSpPr>
          <p:cNvPr id="9" name="Shape 6"/>
          <p:cNvSpPr/>
          <p:nvPr/>
        </p:nvSpPr>
        <p:spPr>
          <a:xfrm>
            <a:off x="3505200" y="1307592"/>
            <a:ext cx="411480" cy="411480"/>
          </a:xfrm>
          <a:prstGeom prst="ellipse">
            <a:avLst/>
          </a:prstGeom>
          <a:solidFill>
            <a:srgbClr val="1B7F8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070" y="1410462"/>
            <a:ext cx="205740" cy="2057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08120" y="1307592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patent search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3505200" y="1874520"/>
            <a:ext cx="2133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Reimers &amp; Gurevych, 2019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Sentence-BERT: embeddings compared with cosine similarity.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&amp; Hsiang, 2019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PatentBERT: fine-tuned BERT beat a CNN baseline on 2M+ patents.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 et al., 2019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FAISS: fast similarity search over large vector sets.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096000" y="1143000"/>
            <a:ext cx="2499360" cy="2788920"/>
          </a:xfrm>
          <a:prstGeom prst="roundRect">
            <a:avLst>
              <a:gd name="adj" fmla="val 3659"/>
            </a:avLst>
          </a:prstGeom>
          <a:solidFill>
            <a:srgbClr val="F3F6F9"/>
          </a:solidFill>
          <a:ln/>
        </p:spPr>
      </p:sp>
      <p:sp>
        <p:nvSpPr>
          <p:cNvPr id="14" name="Shape 10"/>
          <p:cNvSpPr/>
          <p:nvPr/>
        </p:nvSpPr>
        <p:spPr>
          <a:xfrm>
            <a:off x="6278880" y="1307592"/>
            <a:ext cx="411480" cy="411480"/>
          </a:xfrm>
          <a:prstGeom prst="ellipse">
            <a:avLst/>
          </a:prstGeom>
          <a:solidFill>
            <a:srgbClr val="1B7F8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410462"/>
            <a:ext cx="205740" cy="2057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781800" y="1307592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and compliance (India)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6278880" y="1874520"/>
            <a:ext cx="2133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Act, 2000, Sec. 3A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Recognises electronic signatures, so a licensed e-sign provider is preferred.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filing documents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checks the application copy, Forms 1/3/5, assignment deed and ID proof.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before document access, short-expiry links and a logged trail for each deal step.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4114800"/>
            <a:ext cx="8046720" cy="548640"/>
          </a:xfrm>
          <a:prstGeom prst="roundRect">
            <a:avLst>
              <a:gd name="adj" fmla="val 16667"/>
            </a:avLst>
          </a:prstGeom>
          <a:solidFill>
            <a:srgbClr val="DCEFF2"/>
          </a:solidFill>
          <a:ln/>
        </p:spPr>
      </p:sp>
      <p:sp>
        <p:nvSpPr>
          <p:cNvPr id="19" name="Shape 14"/>
          <p:cNvSpPr/>
          <p:nvPr/>
        </p:nvSpPr>
        <p:spPr>
          <a:xfrm>
            <a:off x="685800" y="4215384"/>
            <a:ext cx="347472" cy="347472"/>
          </a:xfrm>
          <a:prstGeom prst="ellipse">
            <a:avLst/>
          </a:prstGeom>
          <a:solidFill>
            <a:srgbClr val="F4A62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" y="4302252"/>
            <a:ext cx="173736" cy="17373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88720" y="411480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position: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admin-verified listings, semantic search, AI summaries and guided signing in one workflow for Indian innovators.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840230" cy="1234440"/>
          </a:xfrm>
          <a:prstGeom prst="roundRect">
            <a:avLst>
              <a:gd name="adj" fmla="val 7407"/>
            </a:avLst>
          </a:prstGeom>
          <a:solidFill>
            <a:srgbClr val="F3F6F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84048" cy="384048"/>
          </a:xfrm>
          <a:prstGeom prst="ellipse">
            <a:avLst/>
          </a:prstGeom>
          <a:solidFill>
            <a:srgbClr val="1B7F8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61288" y="1289304"/>
            <a:ext cx="1108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10512"/>
            <a:ext cx="15659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Innovator submits a patent with proof documents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16302" y="1805940"/>
            <a:ext cx="173736" cy="0"/>
          </a:xfrm>
          <a:prstGeom prst="line">
            <a:avLst/>
          </a:prstGeom>
          <a:noFill/>
          <a:ln w="19050">
            <a:solidFill>
              <a:srgbClr val="1B7F8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617470" y="1188720"/>
            <a:ext cx="1840230" cy="1234440"/>
          </a:xfrm>
          <a:prstGeom prst="roundRect">
            <a:avLst>
              <a:gd name="adj" fmla="val 7407"/>
            </a:avLst>
          </a:prstGeom>
          <a:solidFill>
            <a:srgbClr val="F3F6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54630" y="1325880"/>
            <a:ext cx="384048" cy="384048"/>
          </a:xfrm>
          <a:prstGeom prst="ellipse">
            <a:avLst/>
          </a:prstGeom>
          <a:solidFill>
            <a:srgbClr val="1B7F8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230118" y="1289304"/>
            <a:ext cx="1108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754630" y="1810512"/>
            <a:ext cx="15659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approves; AI summary and embedding are created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5132" y="1805940"/>
            <a:ext cx="173736" cy="0"/>
          </a:xfrm>
          <a:prstGeom prst="line">
            <a:avLst/>
          </a:prstGeom>
          <a:noFill/>
          <a:ln w="19050">
            <a:solidFill>
              <a:srgbClr val="1B7F8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686300" y="1188720"/>
            <a:ext cx="1840230" cy="1234440"/>
          </a:xfrm>
          <a:prstGeom prst="roundRect">
            <a:avLst>
              <a:gd name="adj" fmla="val 7407"/>
            </a:avLst>
          </a:prstGeom>
          <a:solidFill>
            <a:srgbClr val="F3F6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23460" y="1325880"/>
            <a:ext cx="384048" cy="384048"/>
          </a:xfrm>
          <a:prstGeom prst="ellipse">
            <a:avLst/>
          </a:prstGeom>
          <a:solidFill>
            <a:srgbClr val="1B7F8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298948" y="1289304"/>
            <a:ext cx="1108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23460" y="1810512"/>
            <a:ext cx="15659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is embedded and matched by similarity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53962" y="1805940"/>
            <a:ext cx="173736" cy="0"/>
          </a:xfrm>
          <a:prstGeom prst="line">
            <a:avLst/>
          </a:prstGeom>
          <a:noFill/>
          <a:ln w="19050">
            <a:solidFill>
              <a:srgbClr val="1B7F8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755130" y="1188720"/>
            <a:ext cx="1840230" cy="1234440"/>
          </a:xfrm>
          <a:prstGeom prst="roundRect">
            <a:avLst>
              <a:gd name="adj" fmla="val 7407"/>
            </a:avLst>
          </a:prstGeom>
          <a:solidFill>
            <a:srgbClr val="F3F6F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92290" y="1325880"/>
            <a:ext cx="384048" cy="384048"/>
          </a:xfrm>
          <a:prstGeom prst="ellipse">
            <a:avLst/>
          </a:prstGeom>
          <a:solidFill>
            <a:srgbClr val="1B7F8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367778" y="1289304"/>
            <a:ext cx="1108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892290" y="1810512"/>
            <a:ext cx="15659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listing with AI summary opens on click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560320"/>
            <a:ext cx="1840230" cy="1234440"/>
          </a:xfrm>
          <a:prstGeom prst="roundRect">
            <a:avLst>
              <a:gd name="adj" fmla="val 7407"/>
            </a:avLst>
          </a:prstGeom>
          <a:solidFill>
            <a:srgbClr val="F3F6F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2697480"/>
            <a:ext cx="384048" cy="384048"/>
          </a:xfrm>
          <a:prstGeom prst="ellipse">
            <a:avLst/>
          </a:prstGeom>
          <a:solidFill>
            <a:srgbClr val="1B7F8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61288" y="2660904"/>
            <a:ext cx="1108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&amp; Execute NDA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3182112"/>
            <a:ext cx="15659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created; NDA signed before any documents are shared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16302" y="3177540"/>
            <a:ext cx="173736" cy="0"/>
          </a:xfrm>
          <a:prstGeom prst="line">
            <a:avLst/>
          </a:prstGeom>
          <a:noFill/>
          <a:ln w="19050">
            <a:solidFill>
              <a:srgbClr val="1B7F8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617470" y="2560320"/>
            <a:ext cx="1840230" cy="1234440"/>
          </a:xfrm>
          <a:prstGeom prst="roundRect">
            <a:avLst>
              <a:gd name="adj" fmla="val 7407"/>
            </a:avLst>
          </a:prstGeom>
          <a:solidFill>
            <a:srgbClr val="F3F6F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754630" y="2697480"/>
            <a:ext cx="384048" cy="384048"/>
          </a:xfrm>
          <a:prstGeom prst="ellipse">
            <a:avLst/>
          </a:prstGeom>
          <a:solidFill>
            <a:srgbClr val="1B7F8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230118" y="2660904"/>
            <a:ext cx="1108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docs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2754630" y="3182112"/>
            <a:ext cx="15659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NDA, requested documents are shared with scoped access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485132" y="3177540"/>
            <a:ext cx="173736" cy="0"/>
          </a:xfrm>
          <a:prstGeom prst="line">
            <a:avLst/>
          </a:prstGeom>
          <a:noFill/>
          <a:ln w="19050">
            <a:solidFill>
              <a:srgbClr val="1B7F8E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686300" y="2560320"/>
            <a:ext cx="1840230" cy="1234440"/>
          </a:xfrm>
          <a:prstGeom prst="roundRect">
            <a:avLst>
              <a:gd name="adj" fmla="val 7407"/>
            </a:avLst>
          </a:prstGeom>
          <a:solidFill>
            <a:srgbClr val="F3F6F9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823460" y="2697480"/>
            <a:ext cx="384048" cy="384048"/>
          </a:xfrm>
          <a:prstGeom prst="ellipse">
            <a:avLst/>
          </a:prstGeom>
          <a:solidFill>
            <a:srgbClr val="1B7F8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298948" y="2660904"/>
            <a:ext cx="1108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823460" y="3182112"/>
            <a:ext cx="15659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parties sign; admin oversees and confirms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53962" y="3177540"/>
            <a:ext cx="173736" cy="0"/>
          </a:xfrm>
          <a:prstGeom prst="line">
            <a:avLst/>
          </a:prstGeom>
          <a:noFill/>
          <a:ln w="19050">
            <a:solidFill>
              <a:srgbClr val="1B7F8E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755130" y="2560320"/>
            <a:ext cx="1840230" cy="1234440"/>
          </a:xfrm>
          <a:prstGeom prst="roundRect">
            <a:avLst>
              <a:gd name="adj" fmla="val 7407"/>
            </a:avLst>
          </a:prstGeom>
          <a:solidFill>
            <a:srgbClr val="F3F6F9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892290" y="2697480"/>
            <a:ext cx="384048" cy="384048"/>
          </a:xfrm>
          <a:prstGeom prst="ellipse">
            <a:avLst/>
          </a:prstGeom>
          <a:solidFill>
            <a:srgbClr val="F4A6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367778" y="2660904"/>
            <a:ext cx="1108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892290" y="3182112"/>
            <a:ext cx="15659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marked sold and removed from search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3931920"/>
            <a:ext cx="3909060" cy="731520"/>
          </a:xfrm>
          <a:prstGeom prst="roundRect">
            <a:avLst>
              <a:gd name="adj" fmla="val 12500"/>
            </a:avLst>
          </a:prstGeom>
          <a:solidFill>
            <a:srgbClr val="DCEFF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31520" y="4023360"/>
            <a:ext cx="3543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STATUS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731520" y="4242816"/>
            <a:ext cx="3543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→ pending_verification → verified → listed → sold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686300" y="3931920"/>
            <a:ext cx="3909060" cy="731520"/>
          </a:xfrm>
          <a:prstGeom prst="roundRect">
            <a:avLst>
              <a:gd name="adj" fmla="val 12500"/>
            </a:avLst>
          </a:prstGeom>
          <a:solidFill>
            <a:srgbClr val="DCEFF2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869180" y="4023360"/>
            <a:ext cx="3543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APPROACH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4869180" y="4242816"/>
            <a:ext cx="3543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monolith, built phase by phase: auth, patents and admin first, then search, deals, AI, e-sign and dashboards.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used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0E1A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14300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057400" y="114300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(React) + Tailwind CSS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09928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0E1A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09928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057400" y="170992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(Python), JWT + bcrypt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276856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0E1A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276856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057400" y="227685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43784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1B7F8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843784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057400" y="284378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APIs: OpenAI embeddings, Claude summaries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410712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1B7F8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41071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/ storage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057400" y="341071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Celery, S3-style object storage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1B7F8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97764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057400" y="397764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GitHub Actions, Vercel + Render/Railway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2200" y="1143000"/>
            <a:ext cx="2423160" cy="3310128"/>
          </a:xfrm>
          <a:prstGeom prst="roundRect">
            <a:avLst>
              <a:gd name="adj" fmla="val 4528"/>
            </a:avLst>
          </a:prstGeom>
          <a:solidFill>
            <a:srgbClr val="0E1A2B"/>
          </a:solidFill>
          <a:ln/>
        </p:spPr>
      </p:sp>
      <p:sp>
        <p:nvSpPr>
          <p:cNvPr id="22" name="Shape 20"/>
          <p:cNvSpPr/>
          <p:nvPr/>
        </p:nvSpPr>
        <p:spPr>
          <a:xfrm>
            <a:off x="6373368" y="1325880"/>
            <a:ext cx="502920" cy="502920"/>
          </a:xfrm>
          <a:prstGeom prst="ellipse">
            <a:avLst/>
          </a:prstGeom>
          <a:solidFill>
            <a:srgbClr val="F4A62A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9098" y="1451610"/>
            <a:ext cx="251460" cy="25146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6373368" y="19476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an 8 GB machine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373368" y="25146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LLMs or embedding models. All AI calls go to cloud APIs, keeping the development footprint small.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373368" y="3474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A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deployable backend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373368" y="3767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 monolith keeps DevOps overhead low.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0E1A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280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Next.js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4A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Tailwind CSS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762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framework, utility-first styling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 helps public patent pages get discovered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stack for the team, so faster delivery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codebase, three role-guarded surfaces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 push live dashboard updates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023360" y="1143000"/>
            <a:ext cx="4572000" cy="1005840"/>
          </a:xfrm>
          <a:prstGeom prst="roundRect">
            <a:avLst>
              <a:gd name="adj" fmla="val 9091"/>
            </a:avLst>
          </a:prstGeom>
          <a:solidFill>
            <a:srgbClr val="F3F6F9"/>
          </a:solidFill>
          <a:ln/>
        </p:spPr>
      </p:sp>
      <p:sp>
        <p:nvSpPr>
          <p:cNvPr id="9" name="Shape 7"/>
          <p:cNvSpPr/>
          <p:nvPr/>
        </p:nvSpPr>
        <p:spPr>
          <a:xfrm>
            <a:off x="4206240" y="1394460"/>
            <a:ext cx="502920" cy="502920"/>
          </a:xfrm>
          <a:prstGeom prst="ellipse">
            <a:avLst/>
          </a:prstGeom>
          <a:solidFill>
            <a:srgbClr val="1B7F8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1970" y="1520190"/>
            <a:ext cx="251460" cy="2514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892040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Innovator app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892040" y="15544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patent upload wizard, deal inbox and a dashboard of views, interest and sold status.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023360" y="2331720"/>
            <a:ext cx="4572000" cy="1005840"/>
          </a:xfrm>
          <a:prstGeom prst="roundRect">
            <a:avLst>
              <a:gd name="adj" fmla="val 9091"/>
            </a:avLst>
          </a:prstGeom>
          <a:solidFill>
            <a:srgbClr val="F3F6F9"/>
          </a:solidFill>
          <a:ln/>
        </p:spPr>
      </p:sp>
      <p:sp>
        <p:nvSpPr>
          <p:cNvPr id="14" name="Shape 11"/>
          <p:cNvSpPr/>
          <p:nvPr/>
        </p:nvSpPr>
        <p:spPr>
          <a:xfrm>
            <a:off x="4206240" y="2583180"/>
            <a:ext cx="502920" cy="502920"/>
          </a:xfrm>
          <a:prstGeom prst="ellipse">
            <a:avLst/>
          </a:prstGeom>
          <a:solidFill>
            <a:srgbClr val="1B7F8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1970" y="2708910"/>
            <a:ext cx="251460" cy="2514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892040" y="2468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app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4892040" y="2743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search, patent detail view, NDA and document-request flow, deal tracking.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023360" y="3520440"/>
            <a:ext cx="4572000" cy="1005840"/>
          </a:xfrm>
          <a:prstGeom prst="roundRect">
            <a:avLst>
              <a:gd name="adj" fmla="val 9091"/>
            </a:avLst>
          </a:prstGeom>
          <a:solidFill>
            <a:srgbClr val="F3F6F9"/>
          </a:solidFill>
          <a:ln/>
        </p:spPr>
      </p:sp>
      <p:sp>
        <p:nvSpPr>
          <p:cNvPr id="19" name="Shape 15"/>
          <p:cNvSpPr/>
          <p:nvPr/>
        </p:nvSpPr>
        <p:spPr>
          <a:xfrm>
            <a:off x="4206240" y="3771900"/>
            <a:ext cx="502920" cy="502920"/>
          </a:xfrm>
          <a:prstGeom prst="ellipse">
            <a:avLst/>
          </a:prstGeom>
          <a:solidFill>
            <a:srgbClr val="1B7F8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1970" y="3897630"/>
            <a:ext cx="251460" cy="25146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892040" y="3657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4892040" y="39319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queue, flagged documents and signing oversight.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codebase, separated modules that call each other as functions.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714500" cy="411480"/>
          </a:xfrm>
          <a:prstGeom prst="roundRect">
            <a:avLst>
              <a:gd name="adj" fmla="val 17778"/>
            </a:avLst>
          </a:prstGeom>
          <a:solidFill>
            <a:srgbClr val="F3F6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1714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auth/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00300" y="2011680"/>
            <a:ext cx="1714500" cy="411480"/>
          </a:xfrm>
          <a:prstGeom prst="roundRect">
            <a:avLst>
              <a:gd name="adj" fmla="val 17778"/>
            </a:avLst>
          </a:prstGeom>
          <a:solidFill>
            <a:srgbClr val="F3F6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400300" y="2011680"/>
            <a:ext cx="1714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patents/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32888"/>
            <a:ext cx="1714500" cy="411480"/>
          </a:xfrm>
          <a:prstGeom prst="roundRect">
            <a:avLst>
              <a:gd name="adj" fmla="val 17778"/>
            </a:avLst>
          </a:prstGeom>
          <a:solidFill>
            <a:srgbClr val="F3F6F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532888"/>
            <a:ext cx="1714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verification/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00300" y="2532888"/>
            <a:ext cx="1714500" cy="411480"/>
          </a:xfrm>
          <a:prstGeom prst="roundRect">
            <a:avLst>
              <a:gd name="adj" fmla="val 17778"/>
            </a:avLst>
          </a:prstGeom>
          <a:solidFill>
            <a:srgbClr val="F3F6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400300" y="2532888"/>
            <a:ext cx="1714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search/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054096"/>
            <a:ext cx="1714500" cy="411480"/>
          </a:xfrm>
          <a:prstGeom prst="roundRect">
            <a:avLst>
              <a:gd name="adj" fmla="val 17778"/>
            </a:avLst>
          </a:prstGeom>
          <a:solidFill>
            <a:srgbClr val="F3F6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054096"/>
            <a:ext cx="1714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ai/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00300" y="3054096"/>
            <a:ext cx="1714500" cy="411480"/>
          </a:xfrm>
          <a:prstGeom prst="roundRect">
            <a:avLst>
              <a:gd name="adj" fmla="val 17778"/>
            </a:avLst>
          </a:prstGeom>
          <a:solidFill>
            <a:srgbClr val="F3F6F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400300" y="3054096"/>
            <a:ext cx="1714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deals/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575304"/>
            <a:ext cx="1714500" cy="411480"/>
          </a:xfrm>
          <a:prstGeom prst="roundRect">
            <a:avLst>
              <a:gd name="adj" fmla="val 17778"/>
            </a:avLst>
          </a:prstGeom>
          <a:solidFill>
            <a:srgbClr val="F3F6F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575304"/>
            <a:ext cx="1714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notifications/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400300" y="3575304"/>
            <a:ext cx="1714500" cy="411480"/>
          </a:xfrm>
          <a:prstGeom prst="roundRect">
            <a:avLst>
              <a:gd name="adj" fmla="val 17778"/>
            </a:avLst>
          </a:prstGeom>
          <a:solidFill>
            <a:srgbClr val="1B7F8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400300" y="3575304"/>
            <a:ext cx="1714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workers/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2062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AI are the likeliest modules to split into their own service later.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80560" y="1234440"/>
            <a:ext cx="548640" cy="548640"/>
          </a:xfrm>
          <a:prstGeom prst="ellipse">
            <a:avLst/>
          </a:prstGeom>
          <a:solidFill>
            <a:srgbClr val="1B7F8E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371600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5212080" y="11430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5212080" y="143560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sessions, bcrypt-hashed passwords and role-based access for innovator, organisation and admin.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480560" y="2423160"/>
            <a:ext cx="548640" cy="548640"/>
          </a:xfrm>
          <a:prstGeom prst="ellipse">
            <a:avLst/>
          </a:prstGeom>
          <a:solidFill>
            <a:srgbClr val="1B7F8E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560320"/>
            <a:ext cx="274320" cy="27432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5212080" y="23317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AI jobs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5212080" y="262432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 and embeddings run as Celery + Redis jobs, so admin approval never waits on an AI call.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4480560" y="3611880"/>
            <a:ext cx="548640" cy="548640"/>
          </a:xfrm>
          <a:prstGeom prst="ellipse">
            <a:avLst/>
          </a:prstGeom>
          <a:solidFill>
            <a:srgbClr val="1B7F8E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3749040"/>
            <a:ext cx="274320" cy="274320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5212080" y="35204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state machine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5212080" y="381304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interested → nda_pending → nda_signed → doc_requested → docs_shared → signing → signed → sold, each step logged with actor and time.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411480" cy="411480"/>
          </a:xfrm>
          <a:prstGeom prst="ellipse">
            <a:avLst/>
          </a:prstGeom>
          <a:solidFill>
            <a:srgbClr val="1B7F8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510" y="1273302"/>
            <a:ext cx="205740" cy="2057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114300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13898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integrity for users, patents, deals and the audit trail.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2039112"/>
            <a:ext cx="411480" cy="411480"/>
          </a:xfrm>
          <a:prstGeom prst="ellipse">
            <a:avLst/>
          </a:prstGeom>
          <a:solidFill>
            <a:srgbClr val="1B7F8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" y="2141982"/>
            <a:ext cx="205740" cy="2057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201168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097280" y="22585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sit in the same database; cosine similarity ranks listed patents.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907792"/>
            <a:ext cx="411480" cy="411480"/>
          </a:xfrm>
          <a:prstGeom prst="ellipse">
            <a:avLst/>
          </a:prstGeom>
          <a:solidFill>
            <a:srgbClr val="1B7F8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" y="3010662"/>
            <a:ext cx="205740" cy="2057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0" y="288036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1097280" y="31272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documents live outside the DB, served via short-expiry signed URLs.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776472"/>
            <a:ext cx="411480" cy="411480"/>
          </a:xfrm>
          <a:prstGeom prst="ellipse">
            <a:avLst/>
          </a:prstGeom>
          <a:solidFill>
            <a:srgbClr val="1B7F8E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" y="3879342"/>
            <a:ext cx="205740" cy="2057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97280" y="374904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1097280" y="39959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Cache, sessions and the job queue for async AI and verification work.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937760" y="2948940"/>
            <a:ext cx="594360" cy="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4937760" y="272948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6812280" y="2948940"/>
            <a:ext cx="594360" cy="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6812280" y="272948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6812280" y="4229100"/>
            <a:ext cx="594360" cy="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812280" y="400964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6172200" y="2057400"/>
            <a:ext cx="0" cy="45720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6245352" y="216712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by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6172200" y="3383280"/>
            <a:ext cx="0" cy="41148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6245352" y="349300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of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4297680" y="3383280"/>
            <a:ext cx="0" cy="84582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297680" y="4229100"/>
            <a:ext cx="1234440" cy="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4343400" y="42656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/ seller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3657600" y="2514600"/>
            <a:ext cx="1280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C4D2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3657600" y="2514600"/>
            <a:ext cx="1280160" cy="246888"/>
          </a:xfrm>
          <a:prstGeom prst="rect">
            <a:avLst/>
          </a:prstGeom>
          <a:solidFill>
            <a:srgbClr val="1B7F8E"/>
          </a:solidFill>
          <a:ln/>
        </p:spPr>
      </p:sp>
      <p:sp>
        <p:nvSpPr>
          <p:cNvPr id="34" name="Text 28"/>
          <p:cNvSpPr txBox="1"/>
          <p:nvPr/>
        </p:nvSpPr>
        <p:spPr>
          <a:xfrm>
            <a:off x="3657600" y="251460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3730752" y="2816352"/>
            <a:ext cx="1133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role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org_name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verified_status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5532120" y="2514600"/>
            <a:ext cx="1280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C4D2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5532120" y="2514600"/>
            <a:ext cx="1280160" cy="246888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5532120" y="251460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5605272" y="2816352"/>
            <a:ext cx="1133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owner_id, title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abstract, keywords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ai_summary, status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7406640" y="2514600"/>
            <a:ext cx="1280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C4D2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7406640" y="2514600"/>
            <a:ext cx="1280160" cy="246888"/>
          </a:xfrm>
          <a:prstGeom prst="rect">
            <a:avLst/>
          </a:prstGeom>
          <a:solidFill>
            <a:srgbClr val="1B7F8E"/>
          </a:solidFill>
          <a:ln/>
        </p:spPr>
      </p:sp>
      <p:sp>
        <p:nvSpPr>
          <p:cNvPr id="42" name="Text 36"/>
          <p:cNvSpPr txBox="1"/>
          <p:nvPr/>
        </p:nvSpPr>
        <p:spPr>
          <a:xfrm>
            <a:off x="7406640" y="251460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000" dirty="0"/>
          </a:p>
        </p:txBody>
      </p:sp>
      <p:sp>
        <p:nvSpPr>
          <p:cNvPr id="43" name="Text 37"/>
          <p:cNvSpPr txBox="1"/>
          <p:nvPr/>
        </p:nvSpPr>
        <p:spPr>
          <a:xfrm>
            <a:off x="7479792" y="2816352"/>
            <a:ext cx="1133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patent_id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storage_url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verification_status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5532120" y="1188720"/>
            <a:ext cx="1280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C4D2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5532120" y="1188720"/>
            <a:ext cx="1280160" cy="246888"/>
          </a:xfrm>
          <a:prstGeom prst="rect">
            <a:avLst/>
          </a:prstGeom>
          <a:solidFill>
            <a:srgbClr val="1B7F8E"/>
          </a:solidFill>
          <a:ln/>
        </p:spPr>
      </p:sp>
      <p:sp>
        <p:nvSpPr>
          <p:cNvPr id="46" name="Text 40"/>
          <p:cNvSpPr txBox="1"/>
          <p:nvPr/>
        </p:nvSpPr>
        <p:spPr>
          <a:xfrm>
            <a:off x="5532120" y="118872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000" dirty="0"/>
          </a:p>
        </p:txBody>
      </p:sp>
      <p:sp>
        <p:nvSpPr>
          <p:cNvPr id="47" name="Text 41"/>
          <p:cNvSpPr txBox="1"/>
          <p:nvPr/>
        </p:nvSpPr>
        <p:spPr>
          <a:xfrm>
            <a:off x="5605272" y="1490472"/>
            <a:ext cx="1133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patent_id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: float[]</a:t>
            </a:r>
            <a:endParaRPr lang="en-US" sz="900" dirty="0"/>
          </a:p>
        </p:txBody>
      </p:sp>
      <p:sp>
        <p:nvSpPr>
          <p:cNvPr id="48" name="Shape 42"/>
          <p:cNvSpPr/>
          <p:nvPr/>
        </p:nvSpPr>
        <p:spPr>
          <a:xfrm>
            <a:off x="5532120" y="3794760"/>
            <a:ext cx="1280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C4D2"/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5532120" y="3794760"/>
            <a:ext cx="1280160" cy="246888"/>
          </a:xfrm>
          <a:prstGeom prst="rect">
            <a:avLst/>
          </a:prstGeom>
          <a:solidFill>
            <a:srgbClr val="F4A62A"/>
          </a:solidFill>
          <a:ln/>
        </p:spPr>
      </p:sp>
      <p:sp>
        <p:nvSpPr>
          <p:cNvPr id="50" name="Text 44"/>
          <p:cNvSpPr txBox="1"/>
          <p:nvPr/>
        </p:nvSpPr>
        <p:spPr>
          <a:xfrm>
            <a:off x="5532120" y="379476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</a:t>
            </a:r>
            <a:endParaRPr lang="en-US" sz="1000" dirty="0"/>
          </a:p>
        </p:txBody>
      </p:sp>
      <p:sp>
        <p:nvSpPr>
          <p:cNvPr id="51" name="Text 45"/>
          <p:cNvSpPr txBox="1"/>
          <p:nvPr/>
        </p:nvSpPr>
        <p:spPr>
          <a:xfrm>
            <a:off x="5605272" y="4096512"/>
            <a:ext cx="1133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patent_id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buyer_id, seller_id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created_at</a:t>
            </a:r>
            <a:endParaRPr lang="en-US" sz="900" dirty="0"/>
          </a:p>
        </p:txBody>
      </p:sp>
      <p:sp>
        <p:nvSpPr>
          <p:cNvPr id="52" name="Shape 46"/>
          <p:cNvSpPr/>
          <p:nvPr/>
        </p:nvSpPr>
        <p:spPr>
          <a:xfrm>
            <a:off x="7406640" y="3794760"/>
            <a:ext cx="1280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C4D2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7406640" y="3794760"/>
            <a:ext cx="1280160" cy="246888"/>
          </a:xfrm>
          <a:prstGeom prst="rect">
            <a:avLst/>
          </a:prstGeom>
          <a:solidFill>
            <a:srgbClr val="1B7F8E"/>
          </a:solidFill>
          <a:ln/>
        </p:spPr>
      </p:sp>
      <p:sp>
        <p:nvSpPr>
          <p:cNvPr id="54" name="Text 48"/>
          <p:cNvSpPr txBox="1"/>
          <p:nvPr/>
        </p:nvSpPr>
        <p:spPr>
          <a:xfrm>
            <a:off x="7406640" y="379476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000" dirty="0"/>
          </a:p>
        </p:txBody>
      </p:sp>
      <p:sp>
        <p:nvSpPr>
          <p:cNvPr id="55" name="Text 49"/>
          <p:cNvSpPr txBox="1"/>
          <p:nvPr/>
        </p:nvSpPr>
        <p:spPr>
          <a:xfrm>
            <a:off x="7479792" y="4096512"/>
            <a:ext cx="1133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deal_id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signer_id, status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doc_url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61872"/>
            <a:ext cx="548640" cy="548640"/>
          </a:xfrm>
          <a:prstGeom prst="ellipse">
            <a:avLst/>
          </a:prstGeom>
          <a:solidFill>
            <a:srgbClr val="F4A6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99032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1887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trusted workflow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48132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listing, semantic search, AI summaries, NDA-protected document sharing and admin-overseen signing in one platform.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2313432"/>
            <a:ext cx="548640" cy="548640"/>
          </a:xfrm>
          <a:prstGeom prst="ellipse">
            <a:avLst/>
          </a:prstGeom>
          <a:solidFill>
            <a:srgbClr val="F4A62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50592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22402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 to build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280160" y="253288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 monolith with cloud AI APIs suits a two-person team, a 2-month timeline and an 8 GB machine.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3364992"/>
            <a:ext cx="548640" cy="548640"/>
          </a:xfrm>
          <a:prstGeom prst="ellipse">
            <a:avLst/>
          </a:prstGeom>
          <a:solidFill>
            <a:srgbClr val="F4A62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502152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3291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Monetise after traction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280160" y="358444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free to build supply and trust, then add success fees and premium tiers as usage grows.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5669280" y="11887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A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MONETISATION ROADMAP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669280" y="1554480"/>
            <a:ext cx="2926080" cy="777240"/>
          </a:xfrm>
          <a:prstGeom prst="roundRect">
            <a:avLst>
              <a:gd name="adj" fmla="val 11765"/>
            </a:avLst>
          </a:prstGeom>
          <a:solidFill>
            <a:srgbClr val="1B2B44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5852160" y="1737360"/>
            <a:ext cx="411480" cy="411480"/>
          </a:xfrm>
          <a:prstGeom prst="ellipse">
            <a:avLst/>
          </a:prstGeom>
          <a:solidFill>
            <a:srgbClr val="F4A6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446520" y="16733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launch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446520" y="195681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listings and search quality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669280" y="2468880"/>
            <a:ext cx="2926080" cy="777240"/>
          </a:xfrm>
          <a:prstGeom prst="roundRect">
            <a:avLst>
              <a:gd name="adj" fmla="val 11765"/>
            </a:avLst>
          </a:prstGeom>
          <a:solidFill>
            <a:srgbClr val="1B2B44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5852160" y="2651760"/>
            <a:ext cx="411480" cy="411480"/>
          </a:xfrm>
          <a:prstGeom prst="ellipse">
            <a:avLst/>
          </a:prstGeom>
          <a:solidFill>
            <a:srgbClr val="F4A6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6446520" y="25877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fee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6446520" y="287121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Charged only on closed deals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669280" y="3383280"/>
            <a:ext cx="2926080" cy="777240"/>
          </a:xfrm>
          <a:prstGeom prst="roundRect">
            <a:avLst>
              <a:gd name="adj" fmla="val 11765"/>
            </a:avLst>
          </a:prstGeom>
          <a:solidFill>
            <a:srgbClr val="1B2B44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5852160" y="3566160"/>
            <a:ext cx="411480" cy="411480"/>
          </a:xfrm>
          <a:prstGeom prst="ellipse">
            <a:avLst/>
          </a:prstGeom>
          <a:solidFill>
            <a:srgbClr val="F4A6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6446520" y="35021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tiers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6446520" y="378561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Subscriptions, boosts, fast-track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54864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A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Questions welcome.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 Exchange Tool</dc:title>
  <dc:subject>Internship project presentation</dc:subject>
  <dc:creator>PptxGenJS</dc:creator>
  <cp:lastModifiedBy>PptxGenJS</cp:lastModifiedBy>
  <cp:revision>1</cp:revision>
  <dcterms:created xsi:type="dcterms:W3CDTF">2026-09-21T03:33:03Z</dcterms:created>
  <dcterms:modified xsi:type="dcterms:W3CDTF">2026-09-21T03:33:03Z</dcterms:modified>
</cp:coreProperties>
</file>